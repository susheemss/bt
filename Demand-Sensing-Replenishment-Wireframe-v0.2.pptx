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· INVENTORY OPTIMIZATION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sensing &amp; replenishment</a:t>
            </a:r>
            <a:endParaRPr lang="en-US" sz="33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 wireframes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395728"/>
            <a:ext cx="7223760" cy="0"/>
          </a:xfrm>
          <a:prstGeom prst="line">
            <a:avLst/>
          </a:prstGeom>
          <a:noFill/>
          <a:ln w="19050">
            <a:solidFill>
              <a:srgbClr val="2624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5420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Multi-store inventory optimization across a 5-store network — 100+ SKUs per store, single distribution center.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0" y="33467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 Planning / UX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38039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0" y="3767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Jun 2026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4224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286000" y="4187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v0.2 — draft for review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46451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286000" y="46085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 network transportation cost at target service level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5440680"/>
            <a:ext cx="1783080" cy="384048"/>
          </a:xfrm>
          <a:prstGeom prst="roundRect">
            <a:avLst>
              <a:gd name="adj" fmla="val 14286"/>
            </a:avLst>
          </a:prstGeom>
          <a:ln w="15875">
            <a:solidFill>
              <a:srgbClr val="A23C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4406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A23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— FOR REVIEW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75320" y="896112"/>
            <a:ext cx="3291840" cy="4937760"/>
          </a:xfrm>
          <a:prstGeom prst="rect">
            <a:avLst/>
          </a:prstGeom>
          <a:solidFill>
            <a:srgbClr val="FFFFFF"/>
          </a:solidFill>
          <a:ln w="15875">
            <a:solidFill>
              <a:srgbClr val="CAC6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11155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549640" y="1389888"/>
            <a:ext cx="2743200" cy="0"/>
          </a:xfrm>
          <a:prstGeom prst="line">
            <a:avLst/>
          </a:prstGeom>
          <a:noFill/>
          <a:ln w="12700">
            <a:solidFill>
              <a:srgbClr val="DAD6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9640" y="16276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23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025128" y="16093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demand &amp; inventory cockpit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25128" y="20665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Store-level forecast, sensing, on-hand &amp; gap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8549640" y="2377440"/>
            <a:ext cx="2743200" cy="0"/>
          </a:xfrm>
          <a:prstGeom prst="line">
            <a:avLst/>
          </a:prstGeom>
          <a:noFill/>
          <a:ln w="12700">
            <a:solidFill>
              <a:srgbClr val="E7E3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25420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23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25128" y="25237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SKU replenishment detail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25128" y="29809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requirement &amp; order qty per SKU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8549640" y="3291840"/>
            <a:ext cx="2743200" cy="0"/>
          </a:xfrm>
          <a:prstGeom prst="line">
            <a:avLst/>
          </a:prstGeom>
          <a:noFill/>
          <a:ln w="12700">
            <a:solidFill>
              <a:srgbClr val="E7E3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9640" y="34564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23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025128" y="34381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replenishment &amp; DC dispatch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025128" y="38953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consolidation to cut freight cost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8549640" y="4937760"/>
            <a:ext cx="2743200" cy="0"/>
          </a:xfrm>
          <a:prstGeom prst="line">
            <a:avLst/>
          </a:prstGeom>
          <a:noFill/>
          <a:ln w="12700">
            <a:solidFill>
              <a:srgbClr val="DAD6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49640" y="5074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549640" y="5340096"/>
            <a:ext cx="146304" cy="109728"/>
          </a:xfrm>
          <a:prstGeom prst="rect">
            <a:avLst/>
          </a:prstGeom>
          <a:solidFill>
            <a:srgbClr val="E6E3DB"/>
          </a:solidFill>
          <a:ln/>
        </p:spPr>
      </p:sp>
      <p:sp>
        <p:nvSpPr>
          <p:cNvPr id="33" name="Text 31"/>
          <p:cNvSpPr/>
          <p:nvPr/>
        </p:nvSpPr>
        <p:spPr>
          <a:xfrm>
            <a:off x="8769096" y="52943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 block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646920" y="529437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content / data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549640" y="5513832"/>
            <a:ext cx="146304" cy="118872"/>
          </a:xfrm>
          <a:prstGeom prst="rect">
            <a:avLst/>
          </a:prstGeom>
          <a:ln w="12700">
            <a:solidFill>
              <a:srgbClr val="6E6B63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8769096" y="54772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box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646920" y="54772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/ dynamic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549640" y="5687568"/>
            <a:ext cx="137160" cy="137160"/>
          </a:xfrm>
          <a:prstGeom prst="ellipse">
            <a:avLst/>
          </a:prstGeom>
          <a:solidFill>
            <a:srgbClr val="A23C30"/>
          </a:solidFill>
          <a:ln/>
        </p:spPr>
      </p:sp>
      <p:sp>
        <p:nvSpPr>
          <p:cNvPr id="39" name="Text 37"/>
          <p:cNvSpPr/>
          <p:nvPr/>
        </p:nvSpPr>
        <p:spPr>
          <a:xfrm>
            <a:off x="8769096" y="56601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9646920" y="56601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 (see notes)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SENSING &amp; REPLENISHMENT — WIREFRAMES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571232" y="2560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v0.2  ·  Draft for review  ·  SC Planning / UX  ·  17 Jun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66928"/>
            <a:ext cx="11183112" cy="0"/>
          </a:xfrm>
          <a:prstGeom prst="line">
            <a:avLst/>
          </a:prstGeom>
          <a:noFill/>
          <a:ln w="12700">
            <a:solidFill>
              <a:srgbClr val="DAD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766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23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" y="67665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closed-loop flow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signals feed a capacity-aware gap calculation; an optimizer turns shortfalls into consolidated, freight-minimal DC orders, re-planned each cycle.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2651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110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forecast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2037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Baseline, store × SKU, multi-week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2651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169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sensing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2095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· weather · festival · trend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2651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227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sell-through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2153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on-hand &amp; actual offtake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86200" y="2377440"/>
            <a:ext cx="2377440" cy="1783080"/>
          </a:xfrm>
          <a:prstGeom prst="rect">
            <a:avLst/>
          </a:prstGeom>
          <a:solidFill>
            <a:srgbClr val="F1EFEA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9080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gap engine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69080" y="2907792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requirement = sensed demand over lead time + safety stock − on-hand − in-transit, clamped to store capacity.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0" y="2377440"/>
            <a:ext cx="2423160" cy="1783080"/>
          </a:xfrm>
          <a:prstGeom prst="rect">
            <a:avLst/>
          </a:prstGeom>
          <a:solidFill>
            <a:srgbClr val="FFFFFF"/>
          </a:solidFill>
          <a:ln w="15875">
            <a:solidFill>
              <a:srgbClr val="6E6B63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766560" y="2542032"/>
            <a:ext cx="457200" cy="219456"/>
          </a:xfrm>
          <a:prstGeom prst="roundRect">
            <a:avLst>
              <a:gd name="adj" fmla="val 16667"/>
            </a:avLst>
          </a:prstGeom>
          <a:ln w="12700">
            <a:solidFill>
              <a:srgbClr val="6E6B63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6766560" y="25420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766560" y="2834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Replenishment optimizer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3163824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Allocates &amp; consolidates orders across lanes to maximize truck fill — objective: minimum freight at target service level.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326880" y="2377440"/>
            <a:ext cx="2286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0" y="2560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Auto-release DRP order → DC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09760" y="303580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Shortfalls trigger an automated order to the DC for dispatch on the chosen lane.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28416" y="2203704"/>
            <a:ext cx="512064" cy="1065276"/>
          </a:xfrm>
          <a:prstGeom prst="line">
            <a:avLst/>
          </a:prstGeom>
          <a:noFill/>
          <a:ln w="19050">
            <a:solidFill>
              <a:srgbClr val="6E6B6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328416" y="3209544"/>
            <a:ext cx="512064" cy="59436"/>
          </a:xfrm>
          <a:prstGeom prst="line">
            <a:avLst/>
          </a:prstGeom>
          <a:noFill/>
          <a:ln w="19050">
            <a:solidFill>
              <a:srgbClr val="6E6B6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328416" y="4215384"/>
            <a:ext cx="512064" cy="-946404"/>
          </a:xfrm>
          <a:prstGeom prst="line">
            <a:avLst/>
          </a:prstGeom>
          <a:noFill/>
          <a:ln w="19050">
            <a:solidFill>
              <a:srgbClr val="6E6B6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300216" y="3268980"/>
            <a:ext cx="237744" cy="0"/>
          </a:xfrm>
          <a:prstGeom prst="line">
            <a:avLst/>
          </a:prstGeom>
          <a:noFill/>
          <a:ln w="19050">
            <a:solidFill>
              <a:srgbClr val="6E6B6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043416" y="3268980"/>
            <a:ext cx="237744" cy="0"/>
          </a:xfrm>
          <a:prstGeom prst="line">
            <a:avLst/>
          </a:prstGeom>
          <a:noFill/>
          <a:ln w="25400">
            <a:solidFill>
              <a:srgbClr val="3F3C35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469880" y="4160520"/>
            <a:ext cx="0" cy="731520"/>
          </a:xfrm>
          <a:prstGeom prst="line">
            <a:avLst/>
          </a:prstGeom>
          <a:noFill/>
          <a:ln w="19050">
            <a:solidFill>
              <a:srgbClr val="B7B3A8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0469880" y="4892040"/>
            <a:ext cx="-8503920" cy="0"/>
          </a:xfrm>
          <a:prstGeom prst="line">
            <a:avLst/>
          </a:prstGeom>
          <a:noFill/>
          <a:ln w="19050">
            <a:solidFill>
              <a:srgbClr val="B7B3A8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1965960" y="4892040"/>
            <a:ext cx="0" cy="-219456"/>
          </a:xfrm>
          <a:prstGeom prst="line">
            <a:avLst/>
          </a:prstGeom>
          <a:noFill/>
          <a:ln w="19050">
            <a:solidFill>
              <a:srgbClr val="B7B3A8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1965960" y="4617720"/>
            <a:ext cx="0" cy="73152"/>
          </a:xfrm>
          <a:prstGeom prst="line">
            <a:avLst/>
          </a:prstGeom>
          <a:noFill/>
          <a:ln w="19050">
            <a:solidFill>
              <a:srgbClr val="B7B3A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709160" y="4754880"/>
            <a:ext cx="3566160" cy="274320"/>
          </a:xfrm>
          <a:prstGeom prst="rect">
            <a:avLst/>
          </a:prstGeom>
          <a:solidFill>
            <a:srgbClr val="FBFAF7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sensing loop — re-planned each cycle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6035040"/>
            <a:ext cx="11183112" cy="512064"/>
          </a:xfrm>
          <a:prstGeom prst="roundRect">
            <a:avLst>
              <a:gd name="adj" fmla="val 8929"/>
            </a:avLst>
          </a:prstGeom>
          <a:solidFill>
            <a:srgbClr val="F1EFEA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" y="603504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554480" y="6035040"/>
            <a:ext cx="9875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Consolidated, capacity-aware replenishment that lifts truck utilization and cuts transportation cost.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SENSING &amp; REPLENISHMENT — WIREFRAMES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571232" y="2560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v0.2  ·  Draft for review  ·  SC Planning / UX  ·  17 Jun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66928"/>
            <a:ext cx="11183112" cy="0"/>
          </a:xfrm>
          <a:prstGeom prst="line">
            <a:avLst/>
          </a:prstGeom>
          <a:noFill/>
          <a:ln w="12700">
            <a:solidFill>
              <a:srgbClr val="DAD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766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23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" y="67665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demand &amp; inventory cockpit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411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AC6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07008"/>
            <a:ext cx="11183112" cy="420624"/>
          </a:xfrm>
          <a:prstGeom prst="rect">
            <a:avLst/>
          </a:prstGeom>
          <a:solidFill>
            <a:srgbClr val="EDEAE3"/>
          </a:solidFill>
          <a:ln w="15875">
            <a:solidFill>
              <a:srgbClr val="CAC6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1325880"/>
            <a:ext cx="182880" cy="182880"/>
          </a:xfrm>
          <a:prstGeom prst="rect">
            <a:avLst/>
          </a:prstGeom>
          <a:solidFill>
            <a:srgbClr val="918D83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" y="1207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Replenishment cockpit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0" y="1207008"/>
            <a:ext cx="6839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572768"/>
            <a:ext cx="683971" cy="0"/>
          </a:xfrm>
          <a:prstGeom prst="line">
            <a:avLst/>
          </a:prstGeom>
          <a:noFill/>
          <a:ln w="19050">
            <a:solidFill>
              <a:srgbClr val="2624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0403" y="1207008"/>
            <a:ext cx="5632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59706" y="1207008"/>
            <a:ext cx="9857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Replenishment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533888" y="1298448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33888" y="12984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Sensing: 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253728" y="1298448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53728" y="12984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Horizon: 8 wks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790688" y="1298448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F1EFEA"/>
          </a:solidFill>
          <a:ln w="12700">
            <a:solidFill>
              <a:srgbClr val="6E6B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0688" y="12984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▾  #0142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5800" y="1792224"/>
            <a:ext cx="204642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1883664"/>
            <a:ext cx="18086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40" kern="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LEVEL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04672" y="2039112"/>
            <a:ext cx="18086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97.4%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04672" y="2322576"/>
            <a:ext cx="1808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98%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878531" y="1792224"/>
            <a:ext cx="204642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7403" y="1883664"/>
            <a:ext cx="18086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40" kern="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RATE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997403" y="2039112"/>
            <a:ext cx="18086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95.1%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2997403" y="2322576"/>
            <a:ext cx="1808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+1.2 pts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071262" y="1792224"/>
            <a:ext cx="204642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90134" y="1883664"/>
            <a:ext cx="18086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40" kern="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UTIL.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190134" y="2039112"/>
            <a:ext cx="18086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190134" y="2322576"/>
            <a:ext cx="1808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ceiling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263994" y="1792224"/>
            <a:ext cx="204642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82866" y="1883664"/>
            <a:ext cx="18086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40" kern="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IN-TRANSIT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382866" y="2039112"/>
            <a:ext cx="18086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12.4K u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382866" y="2322576"/>
            <a:ext cx="1808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loads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9456725" y="1792224"/>
            <a:ext cx="2046427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A23C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75597" y="1883664"/>
            <a:ext cx="18086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40" kern="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TRANSPORTATION COST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9575597" y="2039112"/>
            <a:ext cx="18086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$184K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9575597" y="2322576"/>
            <a:ext cx="1808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23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· −9% vs plan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1356848" y="1700784"/>
            <a:ext cx="246888" cy="246888"/>
          </a:xfrm>
          <a:prstGeom prst="ellipse">
            <a:avLst/>
          </a:prstGeom>
          <a:solidFill>
            <a:srgbClr val="A23C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356848" y="16962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5800" y="2651760"/>
            <a:ext cx="259461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2104" y="2734056"/>
            <a:ext cx="23020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forecast — baseline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50392" y="3417385"/>
            <a:ext cx="184066" cy="404807"/>
          </a:xfrm>
          <a:prstGeom prst="rect">
            <a:avLst/>
          </a:prstGeom>
          <a:solidFill>
            <a:srgbClr val="E6E3DB"/>
          </a:solidFill>
          <a:ln w="9525">
            <a:solidFill>
              <a:srgbClr val="DAD6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47729" y="3292087"/>
            <a:ext cx="184066" cy="530105"/>
          </a:xfrm>
          <a:prstGeom prst="rect">
            <a:avLst/>
          </a:prstGeom>
          <a:solidFill>
            <a:srgbClr val="E6E3DB"/>
          </a:solidFill>
          <a:ln w="9525">
            <a:solidFill>
              <a:srgbClr val="DAD6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45066" y="3349917"/>
            <a:ext cx="184066" cy="472275"/>
          </a:xfrm>
          <a:prstGeom prst="rect">
            <a:avLst/>
          </a:prstGeom>
          <a:solidFill>
            <a:srgbClr val="E6E3DB"/>
          </a:solidFill>
          <a:ln w="9525">
            <a:solidFill>
              <a:srgbClr val="DAD6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42403" y="3214981"/>
            <a:ext cx="184066" cy="607211"/>
          </a:xfrm>
          <a:prstGeom prst="rect">
            <a:avLst/>
          </a:prstGeom>
          <a:solidFill>
            <a:srgbClr val="E6E3DB"/>
          </a:solidFill>
          <a:ln w="9525">
            <a:solidFill>
              <a:srgbClr val="DAD6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39741" y="3263172"/>
            <a:ext cx="184066" cy="559020"/>
          </a:xfrm>
          <a:prstGeom prst="rect">
            <a:avLst/>
          </a:prstGeom>
          <a:solidFill>
            <a:srgbClr val="E6E3DB"/>
          </a:solidFill>
          <a:ln w="9525">
            <a:solidFill>
              <a:srgbClr val="DAD6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37078" y="3137875"/>
            <a:ext cx="184066" cy="684317"/>
          </a:xfrm>
          <a:prstGeom prst="rect">
            <a:avLst/>
          </a:prstGeom>
          <a:solidFill>
            <a:srgbClr val="E6E3DB"/>
          </a:solidFill>
          <a:ln w="9525">
            <a:solidFill>
              <a:srgbClr val="DAD6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34415" y="3186066"/>
            <a:ext cx="184066" cy="636126"/>
          </a:xfrm>
          <a:prstGeom prst="rect">
            <a:avLst/>
          </a:prstGeom>
          <a:solidFill>
            <a:srgbClr val="E6E3DB"/>
          </a:solidFill>
          <a:ln w="9525">
            <a:solidFill>
              <a:srgbClr val="DAD6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31752" y="3108960"/>
            <a:ext cx="184066" cy="713232"/>
          </a:xfrm>
          <a:prstGeom prst="rect">
            <a:avLst/>
          </a:prstGeom>
          <a:solidFill>
            <a:srgbClr val="E6E3DB"/>
          </a:solidFill>
          <a:ln w="9525">
            <a:solidFill>
              <a:srgbClr val="DAD6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0392" y="3886200"/>
            <a:ext cx="226542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B7B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/ week  ·  W1–W8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426714" y="2651760"/>
            <a:ext cx="259461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73018" y="2734056"/>
            <a:ext cx="23020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sensing vs baseline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27882" y="3611880"/>
            <a:ext cx="365760" cy="-91440"/>
          </a:xfrm>
          <a:prstGeom prst="line">
            <a:avLst/>
          </a:prstGeom>
          <a:noFill/>
          <a:ln w="19050">
            <a:solidFill>
              <a:srgbClr val="B7B3A8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3993642" y="3520440"/>
            <a:ext cx="365760" cy="45720"/>
          </a:xfrm>
          <a:prstGeom prst="line">
            <a:avLst/>
          </a:prstGeom>
          <a:noFill/>
          <a:ln w="19050">
            <a:solidFill>
              <a:srgbClr val="B7B3A8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4359402" y="3566160"/>
            <a:ext cx="365760" cy="-137160"/>
          </a:xfrm>
          <a:prstGeom prst="line">
            <a:avLst/>
          </a:prstGeom>
          <a:noFill/>
          <a:ln w="19050">
            <a:solidFill>
              <a:srgbClr val="B7B3A8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4725162" y="3429000"/>
            <a:ext cx="365760" cy="45720"/>
          </a:xfrm>
          <a:prstGeom prst="line">
            <a:avLst/>
          </a:prstGeom>
          <a:noFill/>
          <a:ln w="19050">
            <a:solidFill>
              <a:srgbClr val="B7B3A8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5090922" y="3474720"/>
            <a:ext cx="347472" cy="-109728"/>
          </a:xfrm>
          <a:prstGeom prst="line">
            <a:avLst/>
          </a:prstGeom>
          <a:noFill/>
          <a:ln w="19050">
            <a:solidFill>
              <a:srgbClr val="B7B3A8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3627882" y="3566160"/>
            <a:ext cx="365760" cy="-164592"/>
          </a:xfrm>
          <a:prstGeom prst="line">
            <a:avLst/>
          </a:prstGeom>
          <a:noFill/>
          <a:ln w="25400">
            <a:solidFill>
              <a:srgbClr val="3F3C3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993642" y="3401568"/>
            <a:ext cx="365760" cy="36576"/>
          </a:xfrm>
          <a:prstGeom prst="line">
            <a:avLst/>
          </a:prstGeom>
          <a:noFill/>
          <a:ln w="25400">
            <a:solidFill>
              <a:srgbClr val="3F3C3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59402" y="3438144"/>
            <a:ext cx="365760" cy="-219456"/>
          </a:xfrm>
          <a:prstGeom prst="line">
            <a:avLst/>
          </a:prstGeom>
          <a:noFill/>
          <a:ln w="25400">
            <a:solidFill>
              <a:srgbClr val="3F3C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25162" y="3218688"/>
            <a:ext cx="365760" cy="36576"/>
          </a:xfrm>
          <a:prstGeom prst="line">
            <a:avLst/>
          </a:prstGeom>
          <a:noFill/>
          <a:ln w="25400">
            <a:solidFill>
              <a:srgbClr val="3F3C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90922" y="3255264"/>
            <a:ext cx="347472" cy="-164592"/>
          </a:xfrm>
          <a:prstGeom prst="line">
            <a:avLst/>
          </a:prstGeom>
          <a:noFill/>
          <a:ln w="25400">
            <a:solidFill>
              <a:srgbClr val="3F3C3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591306" y="3886200"/>
            <a:ext cx="226542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B7B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= sensed · dashed = baseline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5875020" y="2560320"/>
            <a:ext cx="246888" cy="246888"/>
          </a:xfrm>
          <a:prstGeom prst="ellipse">
            <a:avLst/>
          </a:prstGeom>
          <a:solidFill>
            <a:srgbClr val="A23C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875020" y="25557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167628" y="2651760"/>
            <a:ext cx="259461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13932" y="2734056"/>
            <a:ext cx="23020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On-hand inventory — DRP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332220" y="3108960"/>
            <a:ext cx="184066" cy="713232"/>
          </a:xfrm>
          <a:prstGeom prst="rect">
            <a:avLst/>
          </a:prstGeom>
          <a:solidFill>
            <a:srgbClr val="E6E3DB"/>
          </a:solidFill>
          <a:ln w="9525">
            <a:solidFill>
              <a:srgbClr val="DAD6C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629557" y="3247644"/>
            <a:ext cx="184066" cy="574548"/>
          </a:xfrm>
          <a:prstGeom prst="rect">
            <a:avLst/>
          </a:prstGeom>
          <a:solidFill>
            <a:srgbClr val="E6E3DB"/>
          </a:solidFill>
          <a:ln w="9525">
            <a:solidFill>
              <a:srgbClr val="DAD6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926894" y="3376422"/>
            <a:ext cx="184066" cy="445770"/>
          </a:xfrm>
          <a:prstGeom prst="rect">
            <a:avLst/>
          </a:prstGeom>
          <a:solidFill>
            <a:srgbClr val="E6E3DB"/>
          </a:solidFill>
          <a:ln w="9525">
            <a:solidFill>
              <a:srgbClr val="DAD6C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224231" y="3495294"/>
            <a:ext cx="184066" cy="326898"/>
          </a:xfrm>
          <a:prstGeom prst="rect">
            <a:avLst/>
          </a:prstGeom>
          <a:solidFill>
            <a:srgbClr val="DAD6CB"/>
          </a:solidFill>
          <a:ln w="9525">
            <a:solidFill>
              <a:srgbClr val="DAD6C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521569" y="3227832"/>
            <a:ext cx="184066" cy="594360"/>
          </a:xfrm>
          <a:prstGeom prst="rect">
            <a:avLst/>
          </a:prstGeom>
          <a:solidFill>
            <a:srgbClr val="E6E3DB"/>
          </a:solidFill>
          <a:ln w="9525">
            <a:solidFill>
              <a:srgbClr val="DAD6C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818906" y="3346704"/>
            <a:ext cx="184066" cy="475488"/>
          </a:xfrm>
          <a:prstGeom prst="rect">
            <a:avLst/>
          </a:prstGeom>
          <a:solidFill>
            <a:srgbClr val="E6E3DB"/>
          </a:solidFill>
          <a:ln w="9525">
            <a:solidFill>
              <a:srgbClr val="DAD6C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116243" y="3465576"/>
            <a:ext cx="184066" cy="356616"/>
          </a:xfrm>
          <a:prstGeom prst="rect">
            <a:avLst/>
          </a:prstGeom>
          <a:solidFill>
            <a:srgbClr val="E6E3DB"/>
          </a:solidFill>
          <a:ln w="9525">
            <a:solidFill>
              <a:srgbClr val="DAD6C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413580" y="3584448"/>
            <a:ext cx="184066" cy="237744"/>
          </a:xfrm>
          <a:prstGeom prst="rect">
            <a:avLst/>
          </a:prstGeom>
          <a:solidFill>
            <a:srgbClr val="DAD6CB"/>
          </a:solidFill>
          <a:ln w="9525">
            <a:solidFill>
              <a:srgbClr val="DAD6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32220" y="3886200"/>
            <a:ext cx="226542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B7B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draw-down + replenishment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8908542" y="2651760"/>
            <a:ext cx="259461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054846" y="2734056"/>
            <a:ext cx="23020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gap / net requirement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109710" y="3364992"/>
            <a:ext cx="2192274" cy="0"/>
          </a:xfrm>
          <a:prstGeom prst="line">
            <a:avLst/>
          </a:prstGeom>
          <a:noFill/>
          <a:ln w="12700">
            <a:solidFill>
              <a:srgbClr val="DAD6CC"/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>
            <a:off x="9109710" y="3246120"/>
            <a:ext cx="365760" cy="64008"/>
          </a:xfrm>
          <a:prstGeom prst="line">
            <a:avLst/>
          </a:prstGeom>
          <a:noFill/>
          <a:ln w="25400">
            <a:solidFill>
              <a:srgbClr val="A23C3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475470" y="3310128"/>
            <a:ext cx="365760" cy="210312"/>
          </a:xfrm>
          <a:prstGeom prst="line">
            <a:avLst/>
          </a:prstGeom>
          <a:noFill/>
          <a:ln w="25400">
            <a:solidFill>
              <a:srgbClr val="A23C3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841230" y="3520440"/>
            <a:ext cx="365760" cy="182880"/>
          </a:xfrm>
          <a:prstGeom prst="line">
            <a:avLst/>
          </a:prstGeom>
          <a:noFill/>
          <a:ln w="25400">
            <a:solidFill>
              <a:srgbClr val="A23C3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206990" y="3703320"/>
            <a:ext cx="365760" cy="-91440"/>
          </a:xfrm>
          <a:prstGeom prst="line">
            <a:avLst/>
          </a:prstGeom>
          <a:noFill/>
          <a:ln w="25400">
            <a:solidFill>
              <a:srgbClr val="A23C3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572750" y="3611880"/>
            <a:ext cx="347472" cy="137160"/>
          </a:xfrm>
          <a:prstGeom prst="line">
            <a:avLst/>
          </a:prstGeom>
          <a:noFill/>
          <a:ln w="25400">
            <a:solidFill>
              <a:srgbClr val="A23C3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073134" y="3886200"/>
            <a:ext cx="226542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23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line = shortfall to replenish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11356848" y="2560320"/>
            <a:ext cx="246888" cy="246888"/>
          </a:xfrm>
          <a:prstGeom prst="ellipse">
            <a:avLst/>
          </a:prstGeom>
          <a:solidFill>
            <a:srgbClr val="A23C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1356848" y="25557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85800" y="4215384"/>
            <a:ext cx="10817352" cy="859536"/>
          </a:xfrm>
          <a:prstGeom prst="rect">
            <a:avLst/>
          </a:prstGeom>
          <a:solidFill>
            <a:srgbClr val="FFFFFF"/>
          </a:solidFill>
          <a:ln w="15875">
            <a:solidFill>
              <a:srgbClr val="6E6B63"/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>
            <a:off x="832104" y="4343400"/>
            <a:ext cx="1280160" cy="219456"/>
          </a:xfrm>
          <a:prstGeom prst="roundRect">
            <a:avLst>
              <a:gd name="adj" fmla="val 16667"/>
            </a:avLst>
          </a:prstGeom>
          <a:ln w="12700">
            <a:solidFill>
              <a:srgbClr val="6E6B63"/>
            </a:solidFill>
            <a:prstDash val="dash"/>
          </a:ln>
        </p:spPr>
      </p:sp>
      <p:sp>
        <p:nvSpPr>
          <p:cNvPr id="93" name="Text 91"/>
          <p:cNvSpPr/>
          <p:nvPr/>
        </p:nvSpPr>
        <p:spPr>
          <a:xfrm>
            <a:off x="832104" y="43434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2240280" y="43068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Replenishment recommendation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850392" y="4672584"/>
            <a:ext cx="5852160" cy="91440"/>
          </a:xfrm>
          <a:prstGeom prst="roundRect">
            <a:avLst>
              <a:gd name="adj" fmla="val 50000"/>
            </a:avLst>
          </a:prstGeom>
          <a:solidFill>
            <a:srgbClr val="E6E3DB"/>
          </a:solidFill>
          <a:ln/>
        </p:spPr>
      </p:sp>
      <p:sp>
        <p:nvSpPr>
          <p:cNvPr id="96" name="Shape 94"/>
          <p:cNvSpPr/>
          <p:nvPr/>
        </p:nvSpPr>
        <p:spPr>
          <a:xfrm>
            <a:off x="850392" y="4864608"/>
            <a:ext cx="4681728" cy="91440"/>
          </a:xfrm>
          <a:prstGeom prst="roundRect">
            <a:avLst>
              <a:gd name="adj" fmla="val 50000"/>
            </a:avLst>
          </a:prstGeom>
          <a:solidFill>
            <a:srgbClr val="E6E3DB"/>
          </a:solidFill>
          <a:ln/>
        </p:spPr>
      </p:sp>
      <p:sp>
        <p:nvSpPr>
          <p:cNvPr id="97" name="Text 95"/>
          <p:cNvSpPr/>
          <p:nvPr/>
        </p:nvSpPr>
        <p:spPr>
          <a:xfrm>
            <a:off x="850392" y="4636008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req. 3,200 u / 18 SKUs · feasible within capacity · consolidate w/ #0137 lane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8759952" y="4361688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897112" y="4434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20" kern="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FREIGHT SAVING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8897112" y="45811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$6.8K / cycle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10177272" y="4462272"/>
            <a:ext cx="1143000" cy="329184"/>
          </a:xfrm>
          <a:prstGeom prst="roundRect">
            <a:avLst>
              <a:gd name="adj" fmla="val 11111"/>
            </a:avLst>
          </a:prstGeom>
          <a:solidFill>
            <a:srgbClr val="26241F"/>
          </a:solidFill>
          <a:ln/>
        </p:spPr>
      </p:sp>
      <p:sp>
        <p:nvSpPr>
          <p:cNvPr id="102" name="Text 100"/>
          <p:cNvSpPr/>
          <p:nvPr/>
        </p:nvSpPr>
        <p:spPr>
          <a:xfrm>
            <a:off x="10177272" y="446227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to DC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8641080" y="4123944"/>
            <a:ext cx="246888" cy="246888"/>
          </a:xfrm>
          <a:prstGeom prst="ellipse">
            <a:avLst/>
          </a:prstGeom>
          <a:solidFill>
            <a:srgbClr val="A23C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641080" y="41193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731520" y="1115568"/>
            <a:ext cx="246888" cy="246888"/>
          </a:xfrm>
          <a:prstGeom prst="ellipse">
            <a:avLst/>
          </a:prstGeom>
          <a:solidFill>
            <a:srgbClr val="A23C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31520" y="111099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502920" y="5468112"/>
            <a:ext cx="11183112" cy="0"/>
          </a:xfrm>
          <a:prstGeom prst="line">
            <a:avLst/>
          </a:prstGeom>
          <a:noFill/>
          <a:ln w="12700">
            <a:solidFill>
              <a:srgbClr val="DAD6C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02920" y="55412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A23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ANNOTATIONS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502920" y="58247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23C30"/>
          </a:solidFill>
          <a:ln/>
        </p:spPr>
      </p:sp>
      <p:sp>
        <p:nvSpPr>
          <p:cNvPr id="110" name="Text 108"/>
          <p:cNvSpPr/>
          <p:nvPr/>
        </p:nvSpPr>
        <p:spPr>
          <a:xfrm>
            <a:off x="502920" y="58110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777240" y="581558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store selector drives every panel; defaults to planner's last store.</a:t>
            </a:r>
            <a:endParaRPr lang="en-US" sz="870" dirty="0"/>
          </a:p>
        </p:txBody>
      </p:sp>
      <p:sp>
        <p:nvSpPr>
          <p:cNvPr id="112" name="Shape 110"/>
          <p:cNvSpPr/>
          <p:nvPr/>
        </p:nvSpPr>
        <p:spPr>
          <a:xfrm>
            <a:off x="502920" y="609904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23C30"/>
          </a:solidFill>
          <a:ln/>
        </p:spPr>
      </p:sp>
      <p:sp>
        <p:nvSpPr>
          <p:cNvPr id="113" name="Text 111"/>
          <p:cNvSpPr/>
          <p:nvPr/>
        </p:nvSpPr>
        <p:spPr>
          <a:xfrm>
            <a:off x="502920" y="60853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777240" y="608990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KPI — transportation cost vs plan; the metric the system optimizes against.</a:t>
            </a:r>
            <a:endParaRPr lang="en-US" sz="870" dirty="0"/>
          </a:p>
        </p:txBody>
      </p:sp>
      <p:sp>
        <p:nvSpPr>
          <p:cNvPr id="115" name="Shape 113"/>
          <p:cNvSpPr/>
          <p:nvPr/>
        </p:nvSpPr>
        <p:spPr>
          <a:xfrm>
            <a:off x="502920" y="637336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23C30"/>
          </a:solidFill>
          <a:ln/>
        </p:spPr>
      </p:sp>
      <p:sp>
        <p:nvSpPr>
          <p:cNvPr id="116" name="Text 114"/>
          <p:cNvSpPr/>
          <p:nvPr/>
        </p:nvSpPr>
        <p:spPr>
          <a:xfrm>
            <a:off x="502920" y="63596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777240" y="636422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Sensing overlays the sensed signal on baseline forecast; recalculated each cycle.</a:t>
            </a:r>
            <a:endParaRPr lang="en-US" sz="870" dirty="0"/>
          </a:p>
        </p:txBody>
      </p:sp>
      <p:sp>
        <p:nvSpPr>
          <p:cNvPr id="118" name="Shape 116"/>
          <p:cNvSpPr/>
          <p:nvPr/>
        </p:nvSpPr>
        <p:spPr>
          <a:xfrm>
            <a:off x="6355080" y="58247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23C30"/>
          </a:solidFill>
          <a:ln/>
        </p:spPr>
      </p:sp>
      <p:sp>
        <p:nvSpPr>
          <p:cNvPr id="119" name="Text 117"/>
          <p:cNvSpPr/>
          <p:nvPr/>
        </p:nvSpPr>
        <p:spPr>
          <a:xfrm>
            <a:off x="6355080" y="58110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6629400" y="581558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panel flags SKUs projected below reorder point (ROP).</a:t>
            </a:r>
            <a:endParaRPr lang="en-US" sz="870" dirty="0"/>
          </a:p>
        </p:txBody>
      </p:sp>
      <p:sp>
        <p:nvSpPr>
          <p:cNvPr id="121" name="Shape 119"/>
          <p:cNvSpPr/>
          <p:nvPr/>
        </p:nvSpPr>
        <p:spPr>
          <a:xfrm>
            <a:off x="6355080" y="609904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23C30"/>
          </a:solidFill>
          <a:ln/>
        </p:spPr>
      </p:sp>
      <p:sp>
        <p:nvSpPr>
          <p:cNvPr id="122" name="Text 120"/>
          <p:cNvSpPr/>
          <p:nvPr/>
        </p:nvSpPr>
        <p:spPr>
          <a:xfrm>
            <a:off x="6355080" y="60853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6629400" y="608990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proposal is capacity-feasible &amp; freight-optimized; planner approves before DC release.</a:t>
            </a:r>
            <a:endParaRPr lang="en-US" sz="8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SENSING &amp; REPLENISHMENT — WIREFRAMES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571232" y="2560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v0.2  ·  Draft for review  ·  SC Planning / UX  ·  17 Jun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66928"/>
            <a:ext cx="11183112" cy="0"/>
          </a:xfrm>
          <a:prstGeom prst="line">
            <a:avLst/>
          </a:prstGeom>
          <a:noFill/>
          <a:ln w="12700">
            <a:solidFill>
              <a:srgbClr val="DAD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766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23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" y="67665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SKU replenishment detail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411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AC6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07008"/>
            <a:ext cx="11183112" cy="420624"/>
          </a:xfrm>
          <a:prstGeom prst="rect">
            <a:avLst/>
          </a:prstGeom>
          <a:solidFill>
            <a:srgbClr val="EDEAE3"/>
          </a:solidFill>
          <a:ln w="15875">
            <a:solidFill>
              <a:srgbClr val="CAC6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1325880"/>
            <a:ext cx="182880" cy="182880"/>
          </a:xfrm>
          <a:prstGeom prst="rect">
            <a:avLst/>
          </a:prstGeom>
          <a:solidFill>
            <a:srgbClr val="918D83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" y="1207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Replenishment cockpit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0" y="1207008"/>
            <a:ext cx="6839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40403" y="1207008"/>
            <a:ext cx="5632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40403" y="1572768"/>
            <a:ext cx="563270" cy="0"/>
          </a:xfrm>
          <a:prstGeom prst="line">
            <a:avLst/>
          </a:prstGeom>
          <a:noFill/>
          <a:ln w="19050">
            <a:solidFill>
              <a:srgbClr val="2624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9706" y="1207008"/>
            <a:ext cx="9857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Replenishment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716768" y="1298448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16768" y="12984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710928" y="129844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10928" y="12984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SKUs: 104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430768" y="1298448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0768" y="12984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Capacity: 88%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5800" y="1792224"/>
            <a:ext cx="2880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19110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#0142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21945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Indiranagar · format L · lead time 2 days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68680" y="250545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UTILIZATION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68680" y="2688336"/>
            <a:ext cx="2514600" cy="201168"/>
          </a:xfrm>
          <a:prstGeom prst="rect">
            <a:avLst/>
          </a:prstGeom>
          <a:solidFill>
            <a:srgbClr val="E6E3DB"/>
          </a:solidFill>
          <a:ln w="9525">
            <a:solidFill>
              <a:srgbClr val="CAC6B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2688336"/>
            <a:ext cx="2212848" cy="201168"/>
          </a:xfrm>
          <a:prstGeom prst="rect">
            <a:avLst/>
          </a:prstGeom>
          <a:solidFill>
            <a:srgbClr val="DAD6CB"/>
          </a:solidFill>
          <a:ln/>
        </p:spPr>
      </p:sp>
      <p:sp>
        <p:nvSpPr>
          <p:cNvPr id="27" name="Text 25"/>
          <p:cNvSpPr/>
          <p:nvPr/>
        </p:nvSpPr>
        <p:spPr>
          <a:xfrm>
            <a:off x="978408" y="268833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 of 14,000 u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68680" y="30358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On-hand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3172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12,320 u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68680" y="3328416"/>
            <a:ext cx="2514600" cy="0"/>
          </a:xfrm>
          <a:prstGeom prst="line">
            <a:avLst/>
          </a:prstGeom>
          <a:noFill/>
          <a:ln w="12700">
            <a:solidFill>
              <a:srgbClr val="E7E3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33467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In-transit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331720" y="33467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2,480 u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68680" y="3639312"/>
            <a:ext cx="2514600" cy="0"/>
          </a:xfrm>
          <a:prstGeom prst="line">
            <a:avLst/>
          </a:prstGeom>
          <a:noFill/>
          <a:ln w="12700">
            <a:solidFill>
              <a:srgbClr val="E7E3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36576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Open-to-ship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331720" y="36576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1,680 u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68680" y="3950208"/>
            <a:ext cx="2514600" cy="0"/>
          </a:xfrm>
          <a:prstGeom prst="line">
            <a:avLst/>
          </a:prstGeom>
          <a:noFill/>
          <a:ln w="12700">
            <a:solidFill>
              <a:srgbClr val="E7E3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39684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target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331720" y="396849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8680" y="437083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DEMAND SIGNALS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868680" y="4535424"/>
            <a:ext cx="69860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6E6B6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4535424"/>
            <a:ext cx="6986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+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658722" y="4535424"/>
            <a:ext cx="76443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6E6B6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58722" y="4535424"/>
            <a:ext cx="7644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Festival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514600" y="4535424"/>
            <a:ext cx="69860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6E6B6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14600" y="4535424"/>
            <a:ext cx="6986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68680" y="48463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Sensed uplift +6.4% vs baseline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447288" y="2560320"/>
            <a:ext cx="246888" cy="246888"/>
          </a:xfrm>
          <a:prstGeom prst="ellipse">
            <a:avLst/>
          </a:prstGeom>
          <a:solidFill>
            <a:srgbClr val="A23C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47288" y="25557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66928" y="4334256"/>
            <a:ext cx="246888" cy="246888"/>
          </a:xfrm>
          <a:prstGeom prst="ellipse">
            <a:avLst/>
          </a:prstGeom>
          <a:solidFill>
            <a:srgbClr val="A23C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" y="43296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794760" y="1792224"/>
            <a:ext cx="7708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replenishment — net requirement &amp; order quantity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94760" y="2066544"/>
          <a:ext cx="7708392" cy="914400"/>
        </p:xfrm>
        <a:graphic>
          <a:graphicData uri="http://schemas.openxmlformats.org/drawingml/2006/table">
            <a:tbl>
              <a:tblPr/>
              <a:tblGrid>
                <a:gridCol w="877824"/>
                <a:gridCol w="786384"/>
                <a:gridCol w="841248"/>
                <a:gridCol w="841248"/>
                <a:gridCol w="676656"/>
                <a:gridCol w="603504"/>
                <a:gridCol w="768096"/>
                <a:gridCol w="731520"/>
                <a:gridCol w="950976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On-hand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In-transit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Sensed/wk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req.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SKU-4471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1,860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i="1" dirty="0">
                          <a:solidFill>
                            <a:srgbClr val="6E6B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SKU-4490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i="1" dirty="0">
                          <a:solidFill>
                            <a:srgbClr val="A23C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Replenish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SKU-4512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i="1" dirty="0">
                          <a:solidFill>
                            <a:srgbClr val="A23C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Replenish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SKU-4533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i="1" dirty="0">
                          <a:solidFill>
                            <a:srgbClr val="5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SKU-4560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i="1" dirty="0">
                          <a:solidFill>
                            <a:srgbClr val="A23C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SKU-4588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1,540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i="1" dirty="0">
                          <a:solidFill>
                            <a:srgbClr val="6E6B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Redeploy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SKU-4601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i="1" dirty="0">
                          <a:solidFill>
                            <a:srgbClr val="A23C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Replenish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53" name="Shape 50"/>
          <p:cNvSpPr/>
          <p:nvPr/>
        </p:nvSpPr>
        <p:spPr>
          <a:xfrm>
            <a:off x="8302752" y="1975104"/>
            <a:ext cx="246888" cy="246888"/>
          </a:xfrm>
          <a:prstGeom prst="ellipse">
            <a:avLst/>
          </a:prstGeom>
          <a:solidFill>
            <a:srgbClr val="A23C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302752" y="19705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11384280" y="1975104"/>
            <a:ext cx="246888" cy="246888"/>
          </a:xfrm>
          <a:prstGeom prst="ellipse">
            <a:avLst/>
          </a:prstGeom>
          <a:solidFill>
            <a:srgbClr val="A23C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1384280" y="19705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3794760" y="4608576"/>
            <a:ext cx="7708392" cy="402336"/>
          </a:xfrm>
          <a:prstGeom prst="rect">
            <a:avLst/>
          </a:prstGeom>
          <a:solidFill>
            <a:srgbClr val="FFFFFF"/>
          </a:solidFill>
          <a:ln w="15875">
            <a:solidFill>
              <a:srgbClr val="6E6B63"/>
            </a:solidFill>
            <a:prstDash val="dash"/>
          </a:ln>
        </p:spPr>
      </p:sp>
      <p:sp>
        <p:nvSpPr>
          <p:cNvPr id="58" name="Shape 55"/>
          <p:cNvSpPr/>
          <p:nvPr/>
        </p:nvSpPr>
        <p:spPr>
          <a:xfrm>
            <a:off x="3941064" y="4700016"/>
            <a:ext cx="457200" cy="219456"/>
          </a:xfrm>
          <a:prstGeom prst="roundRect">
            <a:avLst>
              <a:gd name="adj" fmla="val 16667"/>
            </a:avLst>
          </a:prstGeom>
          <a:ln w="12700">
            <a:solidFill>
              <a:srgbClr val="6E6B63"/>
            </a:solidFill>
            <a:prstDash val="dash"/>
          </a:ln>
        </p:spPr>
      </p:sp>
      <p:sp>
        <p:nvSpPr>
          <p:cNvPr id="59" name="Text 56"/>
          <p:cNvSpPr/>
          <p:nvPr/>
        </p:nvSpPr>
        <p:spPr>
          <a:xfrm>
            <a:off x="3941064" y="47000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4526280" y="4608576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SKUs flagged · consolidated lane DC → #0142 · truck fill 92%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9354312" y="4663440"/>
            <a:ext cx="1965960" cy="292608"/>
          </a:xfrm>
          <a:prstGeom prst="roundRect">
            <a:avLst>
              <a:gd name="adj" fmla="val 12500"/>
            </a:avLst>
          </a:prstGeom>
          <a:solidFill>
            <a:srgbClr val="26241F"/>
          </a:solidFill>
          <a:ln/>
        </p:spPr>
      </p:sp>
      <p:sp>
        <p:nvSpPr>
          <p:cNvPr id="62" name="Text 59"/>
          <p:cNvSpPr/>
          <p:nvPr/>
        </p:nvSpPr>
        <p:spPr>
          <a:xfrm>
            <a:off x="9354312" y="46634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Auto-release to DC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3675888" y="4517136"/>
            <a:ext cx="246888" cy="246888"/>
          </a:xfrm>
          <a:prstGeom prst="ellipse">
            <a:avLst/>
          </a:prstGeom>
          <a:solidFill>
            <a:srgbClr val="A23C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675888" y="45125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502920" y="5468112"/>
            <a:ext cx="11183112" cy="0"/>
          </a:xfrm>
          <a:prstGeom prst="line">
            <a:avLst/>
          </a:prstGeom>
          <a:noFill/>
          <a:ln w="12700">
            <a:solidFill>
              <a:srgbClr val="DAD6CC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02920" y="55412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A23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ANNOTATIONS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502920" y="58247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23C30"/>
          </a:solidFill>
          <a:ln/>
        </p:spPr>
      </p:sp>
      <p:sp>
        <p:nvSpPr>
          <p:cNvPr id="68" name="Text 65"/>
          <p:cNvSpPr/>
          <p:nvPr/>
        </p:nvSpPr>
        <p:spPr>
          <a:xfrm>
            <a:off x="502920" y="58110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777240" y="581558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utilization vs ceiling; orders are clamped to remaining headroom.</a:t>
            </a:r>
            <a:endParaRPr lang="en-US" sz="870" dirty="0"/>
          </a:p>
        </p:txBody>
      </p:sp>
      <p:sp>
        <p:nvSpPr>
          <p:cNvPr id="70" name="Shape 67"/>
          <p:cNvSpPr/>
          <p:nvPr/>
        </p:nvSpPr>
        <p:spPr>
          <a:xfrm>
            <a:off x="502920" y="609904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23C30"/>
          </a:solidFill>
          <a:ln/>
        </p:spPr>
      </p:sp>
      <p:sp>
        <p:nvSpPr>
          <p:cNvPr id="71" name="Text 68"/>
          <p:cNvSpPr/>
          <p:nvPr/>
        </p:nvSpPr>
        <p:spPr>
          <a:xfrm>
            <a:off x="502920" y="60853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777240" y="608990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demand signals driving this store's sensed uplift.</a:t>
            </a:r>
            <a:endParaRPr lang="en-US" sz="870" dirty="0"/>
          </a:p>
        </p:txBody>
      </p:sp>
      <p:sp>
        <p:nvSpPr>
          <p:cNvPr id="73" name="Shape 70"/>
          <p:cNvSpPr/>
          <p:nvPr/>
        </p:nvSpPr>
        <p:spPr>
          <a:xfrm>
            <a:off x="502920" y="637336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23C30"/>
          </a:solidFill>
          <a:ln/>
        </p:spPr>
      </p:sp>
      <p:sp>
        <p:nvSpPr>
          <p:cNvPr id="74" name="Text 71"/>
          <p:cNvSpPr/>
          <p:nvPr/>
        </p:nvSpPr>
        <p:spPr>
          <a:xfrm>
            <a:off x="502920" y="63596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75" name="Text 72"/>
          <p:cNvSpPr/>
          <p:nvPr/>
        </p:nvSpPr>
        <p:spPr>
          <a:xfrm>
            <a:off x="777240" y="636422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req. = sensed demand over lead time + safety stock − on-hand − in-transit.</a:t>
            </a:r>
            <a:endParaRPr lang="en-US" sz="870" dirty="0"/>
          </a:p>
        </p:txBody>
      </p:sp>
      <p:sp>
        <p:nvSpPr>
          <p:cNvPr id="76" name="Shape 73"/>
          <p:cNvSpPr/>
          <p:nvPr/>
        </p:nvSpPr>
        <p:spPr>
          <a:xfrm>
            <a:off x="6355080" y="58247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23C30"/>
          </a:solidFill>
          <a:ln/>
        </p:spPr>
      </p:sp>
      <p:sp>
        <p:nvSpPr>
          <p:cNvPr id="77" name="Text 74"/>
          <p:cNvSpPr/>
          <p:nvPr/>
        </p:nvSpPr>
        <p:spPr>
          <a:xfrm>
            <a:off x="6355080" y="58110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78" name="Text 75"/>
          <p:cNvSpPr/>
          <p:nvPr/>
        </p:nvSpPr>
        <p:spPr>
          <a:xfrm>
            <a:off x="6629400" y="581558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flags: Replenish / Low / Redeploy / OK. Redeploy = move excess to a short store.</a:t>
            </a:r>
            <a:endParaRPr lang="en-US" sz="870" dirty="0"/>
          </a:p>
        </p:txBody>
      </p:sp>
      <p:sp>
        <p:nvSpPr>
          <p:cNvPr id="79" name="Shape 76"/>
          <p:cNvSpPr/>
          <p:nvPr/>
        </p:nvSpPr>
        <p:spPr>
          <a:xfrm>
            <a:off x="6355080" y="609904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23C30"/>
          </a:solidFill>
          <a:ln/>
        </p:spPr>
      </p:sp>
      <p:sp>
        <p:nvSpPr>
          <p:cNvPr id="80" name="Text 77"/>
          <p:cNvSpPr/>
          <p:nvPr/>
        </p:nvSpPr>
        <p:spPr>
          <a:xfrm>
            <a:off x="6355080" y="60853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81" name="Text 78"/>
          <p:cNvSpPr/>
          <p:nvPr/>
        </p:nvSpPr>
        <p:spPr>
          <a:xfrm>
            <a:off x="6629400" y="608990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Auto-release consolidates flagged SKUs onto the optimized DC→store lane.</a:t>
            </a:r>
            <a:endParaRPr lang="en-US" sz="8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SENSING &amp; REPLENISHMENT — WIREFRAMES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571232" y="2560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v0.2  ·  Draft for review  ·  SC Planning / UX  ·  17 Jun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66928"/>
            <a:ext cx="11183112" cy="0"/>
          </a:xfrm>
          <a:prstGeom prst="line">
            <a:avLst/>
          </a:prstGeom>
          <a:noFill/>
          <a:ln w="12700">
            <a:solidFill>
              <a:srgbClr val="DAD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766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23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" y="67665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replenishment &amp; DC dispatch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411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AC6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07008"/>
            <a:ext cx="11183112" cy="420624"/>
          </a:xfrm>
          <a:prstGeom prst="rect">
            <a:avLst/>
          </a:prstGeom>
          <a:solidFill>
            <a:srgbClr val="EDEAE3"/>
          </a:solidFill>
          <a:ln w="15875">
            <a:solidFill>
              <a:srgbClr val="CAC6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1325880"/>
            <a:ext cx="182880" cy="182880"/>
          </a:xfrm>
          <a:prstGeom prst="rect">
            <a:avLst/>
          </a:prstGeom>
          <a:solidFill>
            <a:srgbClr val="918D83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" y="1207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Replenishment cockpit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0" y="1207008"/>
            <a:ext cx="6839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40403" y="1207008"/>
            <a:ext cx="5632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59706" y="1207008"/>
            <a:ext cx="9857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Replenishment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59706" y="1572768"/>
            <a:ext cx="985723" cy="0"/>
          </a:xfrm>
          <a:prstGeom prst="line">
            <a:avLst/>
          </a:prstGeom>
          <a:noFill/>
          <a:ln w="19050">
            <a:solidFill>
              <a:srgbClr val="2624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42448" y="1298448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F1EFEA"/>
          </a:solidFill>
          <a:ln w="12700">
            <a:solidFill>
              <a:srgbClr val="6E6B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42448" y="12984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all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162288" y="1298448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288" y="12984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Optimizer: 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5800" y="1792224"/>
            <a:ext cx="1524762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A23C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1883664"/>
            <a:ext cx="13053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spc="30" kern="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TRANSPORTATION COST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795528" y="2029968"/>
            <a:ext cx="130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$13.0K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5528" y="2313432"/>
            <a:ext cx="130530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23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−13% vs un-optimized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356866" y="1792224"/>
            <a:ext cx="15247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6594" y="1883664"/>
            <a:ext cx="13053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spc="30" kern="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TRUCK UTIL.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2466594" y="2029968"/>
            <a:ext cx="130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466594" y="2313432"/>
            <a:ext cx="130530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 pts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027932" y="1792224"/>
            <a:ext cx="15247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37660" y="1883664"/>
            <a:ext cx="13053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spc="30" kern="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LTL / EXPEDITE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4137660" y="2029968"/>
            <a:ext cx="130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load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137660" y="2313432"/>
            <a:ext cx="130530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 loads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698998" y="1792224"/>
            <a:ext cx="15247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08726" y="1883664"/>
            <a:ext cx="13053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spc="30" kern="0" dirty="0">
                <a:solidFill>
                  <a:srgbClr val="918D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CAPACITY-FEASIBLE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5808726" y="2029968"/>
            <a:ext cx="130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808726" y="2313432"/>
            <a:ext cx="130530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within cap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66928" y="1673352"/>
            <a:ext cx="246888" cy="246888"/>
          </a:xfrm>
          <a:prstGeom prst="ellipse">
            <a:avLst/>
          </a:prstGeom>
          <a:solidFill>
            <a:srgbClr val="A23C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166878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5800" y="2615184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replenishment plan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871216"/>
          <a:ext cx="6537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48640"/>
                <a:gridCol w="777240"/>
                <a:gridCol w="868680"/>
                <a:gridCol w="1188720"/>
                <a:gridCol w="777240"/>
                <a:gridCol w="7315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Lane (DC → store)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SKUs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Truck fill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Freight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base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→ #0142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$3.4K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→ #0137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FTL (consol.)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$3.1K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→ #0151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→ #0165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$2.6K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→ #0188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Milk-run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3C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$1.7K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624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total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24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24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24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24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24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$13.0K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3538728" y="2779776"/>
            <a:ext cx="246888" cy="246888"/>
          </a:xfrm>
          <a:prstGeom prst="ellipse">
            <a:avLst/>
          </a:prstGeom>
          <a:solidFill>
            <a:srgbClr val="A23C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538728" y="277520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407408" y="2779776"/>
            <a:ext cx="246888" cy="246888"/>
          </a:xfrm>
          <a:prstGeom prst="ellipse">
            <a:avLst/>
          </a:prstGeom>
          <a:solidFill>
            <a:srgbClr val="A23C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407408" y="277520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7452360" y="1792224"/>
            <a:ext cx="4050792" cy="3255264"/>
          </a:xfrm>
          <a:prstGeom prst="rect">
            <a:avLst/>
          </a:prstGeom>
          <a:solidFill>
            <a:srgbClr val="FFFFFF"/>
          </a:solidFill>
          <a:ln w="15875">
            <a:solidFill>
              <a:srgbClr val="6E6B63"/>
            </a:solidFill>
            <a:prstDash val="dash"/>
          </a:ln>
        </p:spPr>
      </p:sp>
      <p:sp>
        <p:nvSpPr>
          <p:cNvPr id="44" name="Shape 41"/>
          <p:cNvSpPr/>
          <p:nvPr/>
        </p:nvSpPr>
        <p:spPr>
          <a:xfrm>
            <a:off x="7635240" y="1938528"/>
            <a:ext cx="457200" cy="219456"/>
          </a:xfrm>
          <a:prstGeom prst="roundRect">
            <a:avLst>
              <a:gd name="adj" fmla="val 16667"/>
            </a:avLst>
          </a:prstGeom>
          <a:ln w="12700">
            <a:solidFill>
              <a:srgbClr val="6E6B63"/>
            </a:solidFill>
            <a:prstDash val="dash"/>
          </a:ln>
        </p:spPr>
      </p:sp>
      <p:sp>
        <p:nvSpPr>
          <p:cNvPr id="45" name="Text 42"/>
          <p:cNvSpPr/>
          <p:nvPr/>
        </p:nvSpPr>
        <p:spPr>
          <a:xfrm>
            <a:off x="7635240" y="19385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8165592" y="190195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7635240" y="2322576"/>
            <a:ext cx="368503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763256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23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8019288" y="239572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maximize capacity vs the forecast?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7763256" y="2706624"/>
            <a:ext cx="3502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3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each store's order at storage capacity, then allocate scarce units to highest sensed-demand, highest-margin SKUs first.</a:t>
            </a:r>
            <a:endParaRPr lang="en-US" sz="830" dirty="0"/>
          </a:p>
        </p:txBody>
      </p:sp>
      <p:sp>
        <p:nvSpPr>
          <p:cNvPr id="51" name="Shape 48"/>
          <p:cNvSpPr/>
          <p:nvPr/>
        </p:nvSpPr>
        <p:spPr>
          <a:xfrm>
            <a:off x="7635240" y="3218688"/>
            <a:ext cx="368503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763256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23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8019288" y="3291840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ideal inventory per store?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7763256" y="3602736"/>
            <a:ext cx="3502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3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Sensed demand over lead time + safety stock for the 98% service target, clamped to capacity — recomputed each cycle.</a:t>
            </a:r>
            <a:endParaRPr lang="en-US" sz="830" dirty="0"/>
          </a:p>
        </p:txBody>
      </p:sp>
      <p:sp>
        <p:nvSpPr>
          <p:cNvPr id="55" name="Shape 52"/>
          <p:cNvSpPr/>
          <p:nvPr/>
        </p:nvSpPr>
        <p:spPr>
          <a:xfrm>
            <a:off x="7635240" y="4114800"/>
            <a:ext cx="368503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C6BC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763256" y="4197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23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8019288" y="418795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 transportation cost reduced?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7763256" y="4498848"/>
            <a:ext cx="3502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30" dirty="0">
                <a:solidFill>
                  <a:srgbClr val="6E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 store orders onto shared lanes; replace LTL / expedite with FTL &amp; milk-runs to lift truck fill.</a:t>
            </a:r>
            <a:endParaRPr lang="en-US" sz="830" dirty="0"/>
          </a:p>
        </p:txBody>
      </p:sp>
      <p:sp>
        <p:nvSpPr>
          <p:cNvPr id="59" name="Shape 56"/>
          <p:cNvSpPr/>
          <p:nvPr/>
        </p:nvSpPr>
        <p:spPr>
          <a:xfrm>
            <a:off x="7333488" y="1700784"/>
            <a:ext cx="246888" cy="246888"/>
          </a:xfrm>
          <a:prstGeom prst="ellipse">
            <a:avLst/>
          </a:prstGeom>
          <a:solidFill>
            <a:srgbClr val="A23C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333488" y="16962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502920" y="5468112"/>
            <a:ext cx="11183112" cy="0"/>
          </a:xfrm>
          <a:prstGeom prst="line">
            <a:avLst/>
          </a:prstGeom>
          <a:noFill/>
          <a:ln w="12700">
            <a:solidFill>
              <a:srgbClr val="DAD6C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02920" y="55412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A23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ANNOTATIONS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502920" y="58247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23C30"/>
          </a:solidFill>
          <a:ln/>
        </p:spPr>
      </p:sp>
      <p:sp>
        <p:nvSpPr>
          <p:cNvPr id="64" name="Text 61"/>
          <p:cNvSpPr/>
          <p:nvPr/>
        </p:nvSpPr>
        <p:spPr>
          <a:xfrm>
            <a:off x="502920" y="58110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777240" y="581558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freight cost for the cycle; headline saving vs un-consolidated baseline.</a:t>
            </a:r>
            <a:endParaRPr lang="en-US" sz="870" dirty="0"/>
          </a:p>
        </p:txBody>
      </p:sp>
      <p:sp>
        <p:nvSpPr>
          <p:cNvPr id="66" name="Shape 63"/>
          <p:cNvSpPr/>
          <p:nvPr/>
        </p:nvSpPr>
        <p:spPr>
          <a:xfrm>
            <a:off x="502920" y="609904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23C30"/>
          </a:solidFill>
          <a:ln/>
        </p:spPr>
      </p:sp>
      <p:sp>
        <p:nvSpPr>
          <p:cNvPr id="67" name="Text 64"/>
          <p:cNvSpPr/>
          <p:nvPr/>
        </p:nvSpPr>
        <p:spPr>
          <a:xfrm>
            <a:off x="502920" y="60853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68" name="Text 65"/>
          <p:cNvSpPr/>
          <p:nvPr/>
        </p:nvSpPr>
        <p:spPr>
          <a:xfrm>
            <a:off x="777240" y="608990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Lanes consolidated to lift truck fill; LTL / expedite replaced with FTL &amp; milk-runs.</a:t>
            </a:r>
            <a:endParaRPr lang="en-US" sz="870" dirty="0"/>
          </a:p>
        </p:txBody>
      </p:sp>
      <p:sp>
        <p:nvSpPr>
          <p:cNvPr id="69" name="Shape 66"/>
          <p:cNvSpPr/>
          <p:nvPr/>
        </p:nvSpPr>
        <p:spPr>
          <a:xfrm>
            <a:off x="502920" y="637336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23C30"/>
          </a:solidFill>
          <a:ln/>
        </p:spPr>
      </p:sp>
      <p:sp>
        <p:nvSpPr>
          <p:cNvPr id="70" name="Text 67"/>
          <p:cNvSpPr/>
          <p:nvPr/>
        </p:nvSpPr>
        <p:spPr>
          <a:xfrm>
            <a:off x="502920" y="63596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71" name="Text 68"/>
          <p:cNvSpPr/>
          <p:nvPr/>
        </p:nvSpPr>
        <p:spPr>
          <a:xfrm>
            <a:off x="777240" y="636422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Truck-fill % per lane; low-fill lanes are merge candidates.</a:t>
            </a:r>
            <a:endParaRPr lang="en-US" sz="870" dirty="0"/>
          </a:p>
        </p:txBody>
      </p:sp>
      <p:sp>
        <p:nvSpPr>
          <p:cNvPr id="72" name="Shape 69"/>
          <p:cNvSpPr/>
          <p:nvPr/>
        </p:nvSpPr>
        <p:spPr>
          <a:xfrm>
            <a:off x="6355080" y="58247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23C30"/>
          </a:solidFill>
          <a:ln/>
        </p:spPr>
      </p:sp>
      <p:sp>
        <p:nvSpPr>
          <p:cNvPr id="73" name="Text 70"/>
          <p:cNvSpPr/>
          <p:nvPr/>
        </p:nvSpPr>
        <p:spPr>
          <a:xfrm>
            <a:off x="6355080" y="58110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6629400" y="581558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 answers the two planning questions: max capacity vs forecast; ideal inventory per store.</a:t>
            </a:r>
            <a:endParaRPr lang="en-US" sz="870" dirty="0"/>
          </a:p>
        </p:txBody>
      </p:sp>
      <p:sp>
        <p:nvSpPr>
          <p:cNvPr id="75" name="Shape 72"/>
          <p:cNvSpPr/>
          <p:nvPr/>
        </p:nvSpPr>
        <p:spPr>
          <a:xfrm>
            <a:off x="6355080" y="609904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23C30"/>
          </a:solidFill>
          <a:ln/>
        </p:spPr>
      </p:sp>
      <p:sp>
        <p:nvSpPr>
          <p:cNvPr id="76" name="Text 73"/>
          <p:cNvSpPr/>
          <p:nvPr/>
        </p:nvSpPr>
        <p:spPr>
          <a:xfrm>
            <a:off x="6355080" y="60853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77" name="Text 74"/>
          <p:cNvSpPr/>
          <p:nvPr/>
        </p:nvSpPr>
        <p:spPr>
          <a:xfrm>
            <a:off x="6629400" y="608990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3F3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Approve-all releases every lane; individual lanes can be held.</a:t>
            </a:r>
            <a:endParaRPr lang="en-US" sz="870" dirty="0"/>
          </a:p>
        </p:txBody>
      </p:sp>
      <p:sp>
        <p:nvSpPr>
          <p:cNvPr id="78" name="Shape 75"/>
          <p:cNvSpPr/>
          <p:nvPr/>
        </p:nvSpPr>
        <p:spPr>
          <a:xfrm>
            <a:off x="5120640" y="1700784"/>
            <a:ext cx="246888" cy="246888"/>
          </a:xfrm>
          <a:prstGeom prst="ellipse">
            <a:avLst/>
          </a:prstGeom>
          <a:solidFill>
            <a:srgbClr val="A23C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5120640" y="16962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 Sensing &amp; Replenishment — UX Wireframes</dc:title>
  <dc:subject>PptxGenJS Presentation</dc:subject>
  <dc:creator>SC Planning / UX</dc:creator>
  <cp:lastModifiedBy>SC Planning / UX</cp:lastModifiedBy>
  <cp:revision>1</cp:revision>
  <dcterms:created xsi:type="dcterms:W3CDTF">2026-06-17T07:08:10Z</dcterms:created>
  <dcterms:modified xsi:type="dcterms:W3CDTF">2026-06-17T07:08:10Z</dcterms:modified>
</cp:coreProperties>
</file>